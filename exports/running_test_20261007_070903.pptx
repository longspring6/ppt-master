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这份演示介绍如何从第一步开始跑步。核心主张是从适合自己的节奏出发，让跑步逐渐进入日常。我们将依次了解跑步的价值、出门前的准备、走跑交替的入门方式，以及如何安排下一次行动。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跑步的价值不只体现在距离上。根据英国 NHS 的 Better Health 介绍，跑步有助于改善心肺健康、提升情绪并缓解压力。页面把这些价值整理为三个并列角度：把运动纳入日常、获得积极感受，以及在迈步中调整状态。这是入门动机，并非对个体效果的保证。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出门前先解决装备和路线两个问题。NHS 建议选择支撑双脚的跑鞋以及方便活动的舒适衣物。提前规划路线；低光照时选择照明良好的路段，并穿反光衣物。把这些准备做好，能让开始行动更从容。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第一次开始不必把连续跑步当作唯一形式。NHS 的初学者计划采用走跑交替，并允许按照适合自己的节奏逐步增加跑步量，完成计划也可以使用更长时间。页面上的走、跑、走是本稿整理的顺序示意，没有规定各阶段的时长。CDC 的说话测试可以帮助理解相对运动强度：中等强度时通常能说话但不能唱歌，高强度时往往说几句话就需要停下来换气。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持续行动也包括恢复。NHS 的初学者跑步计划建议在两次跑步之间安排休息日，让身体获得恢复时间。为了让下一次也愿意出门，本稿提供三个行动提示：选一条路线、定一个时间、记录一次感受。这些提示是本稿整理，回到整份演示的主张：从适合自己的节奏开始，持续行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unning_tes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unning_tes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title"/>
          <p:cNvGrpSpPr/>
          <p:nvPr/>
        </p:nvGrpSpPr>
        <p:grpSpPr>
          <a:xfrm>
            <a:off x="590550" y="946150"/>
            <a:ext cx="2507742" cy="3761994"/>
            <a:chOff x="590550" y="946150"/>
            <a:chExt cx="2507742" cy="3761994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946150"/>
              <a:ext cx="1836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RUNNING / 入门指南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790700"/>
              <a:ext cx="181508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跑步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508" y="3114675"/>
              <a:ext cx="24627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从第一步，</a:t>
              </a:r>
              <a:br>
                <a:rPr lang="zh-CN" sz="24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跑向更好的日常。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8556" y="43561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从适合自己的节奏开始</a:t>
              </a:r>
            </a:p>
          </p:txBody>
        </p:sp>
      </p:grpSp>
      <p:grpSp>
        <p:nvGrpSpPr>
          <p:cNvPr id="14" name="runner"/>
          <p:cNvGrpSpPr/>
          <p:nvPr/>
        </p:nvGrpSpPr>
        <p:grpSpPr>
          <a:xfrm>
            <a:off x="7667625" y="1381125"/>
            <a:ext cx="3524250" cy="3524250"/>
            <a:chOff x="7667625" y="1381125"/>
            <a:chExt cx="3524250" cy="3524250"/>
          </a:xfrm>
        </p:grpSpPr>
        <p:sp>
          <p:nvSpPr>
            <p:cNvPr id="7" name="Ellipse 7"/>
            <p:cNvSpPr/>
            <p:nvPr/>
          </p:nvSpPr>
          <p:spPr>
            <a:xfrm>
              <a:off x="7667625" y="1381125"/>
              <a:ext cx="3524250" cy="35242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667750" y="2286000"/>
              <a:ext cx="1333500" cy="1714500"/>
              <a:chOff x="8667750" y="2286000"/>
              <a:chExt cx="1333500" cy="1714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335167" y="22860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190500"/>
                    </a:moveTo>
                    <a:cubicBezTo>
                      <a:pt x="0" y="295710"/>
                      <a:pt x="85290" y="381000"/>
                      <a:pt x="190500" y="381000"/>
                    </a:cubicBezTo>
                    <a:cubicBezTo>
                      <a:pt x="295710" y="381000"/>
                      <a:pt x="381000" y="295710"/>
                      <a:pt x="381000" y="190500"/>
                    </a:cubicBezTo>
                    <a:cubicBezTo>
                      <a:pt x="381000" y="85290"/>
                      <a:pt x="295710" y="0"/>
                      <a:pt x="190500" y="0"/>
                    </a:cubicBezTo>
                    <a:cubicBezTo>
                      <a:pt x="85290" y="0"/>
                      <a:pt x="0" y="85290"/>
                      <a:pt x="0" y="190500"/>
                    </a:cubicBezTo>
                  </a:path>
                </a:pathLst>
              </a:custGeom>
              <a:noFill/>
              <a:ln w="19050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67750" y="3571875"/>
                <a:ext cx="54768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47688" h="142875">
                    <a:moveTo>
                      <a:pt x="0" y="47625"/>
                    </a:moveTo>
                    <a:lnTo>
                      <a:pt x="476250" y="142875"/>
                    </a:lnTo>
                    <a:lnTo>
                      <a:pt x="547688" y="0"/>
                    </a:lnTo>
                  </a:path>
                </a:pathLst>
              </a:custGeom>
              <a:noFill/>
              <a:ln w="19050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34500" y="2762250"/>
                <a:ext cx="38100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238250">
                    <a:moveTo>
                      <a:pt x="381000" y="1238250"/>
                    </a:moveTo>
                    <a:lnTo>
                      <a:pt x="381000" y="857250"/>
                    </a:lnTo>
                    <a:lnTo>
                      <a:pt x="0" y="571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53500" y="2762250"/>
                <a:ext cx="1047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81000">
                    <a:moveTo>
                      <a:pt x="0" y="381000"/>
                    </a:moveTo>
                    <a:lnTo>
                      <a:pt x="0" y="95250"/>
                    </a:lnTo>
                    <a:lnTo>
                      <a:pt x="476250" y="0"/>
                    </a:lnTo>
                    <a:lnTo>
                      <a:pt x="762000" y="285750"/>
                    </a:lnTo>
                    <a:lnTo>
                      <a:pt x="1047750" y="381000"/>
                    </a:lnTo>
                  </a:path>
                </a:pathLst>
              </a:custGeom>
              <a:noFill/>
              <a:ln w="190500">
                <a:solidFill>
                  <a:schemeClr val="accent2"/>
                </a:solidFill>
              </a:ln>
            </p:spPr>
          </p:sp>
        </p:grpSp>
        <p:sp>
          <p:nvSpPr>
            <p:cNvPr id="13" name="Line 13"/>
            <p:cNvSpPr/>
            <p:nvPr/>
          </p:nvSpPr>
          <p:spPr>
            <a:xfrm>
              <a:off x="7715250" y="4857750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7" name="footer"/>
          <p:cNvGrpSpPr/>
          <p:nvPr/>
        </p:nvGrpSpPr>
        <p:grpSpPr>
          <a:xfrm>
            <a:off x="603504" y="6181725"/>
            <a:ext cx="10832592" cy="234696"/>
            <a:chOff x="603504" y="6181725"/>
            <a:chExt cx="108325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1817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跑步 · 5 页入门演示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82732" y="61817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603250"/>
            <a:ext cx="6821424" cy="1561719"/>
            <a:chOff x="591312" y="603250"/>
            <a:chExt cx="6821424" cy="1561719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03250"/>
              <a:ext cx="1479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为什么开始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1069975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给身体与情绪，一次向前的机会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8129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跑步的价值，不只在距离。</a:t>
              </a:r>
            </a:p>
          </p:txBody>
        </p:sp>
      </p:grpSp>
      <p:grpSp>
        <p:nvGrpSpPr>
          <p:cNvPr id="21" name="benefits"/>
          <p:cNvGrpSpPr/>
          <p:nvPr/>
        </p:nvGrpSpPr>
        <p:grpSpPr>
          <a:xfrm>
            <a:off x="673608" y="2857500"/>
            <a:ext cx="9484614" cy="2286000"/>
            <a:chOff x="673608" y="2857500"/>
            <a:chExt cx="9484614" cy="2286000"/>
          </a:xfrm>
        </p:grpSpPr>
        <p:sp>
          <p:nvSpPr>
            <p:cNvPr id="6" name="Line 6"/>
            <p:cNvSpPr/>
            <p:nvPr/>
          </p:nvSpPr>
          <p:spPr>
            <a:xfrm>
              <a:off x="4171950" y="2857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791450" y="2857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44779" y="2940698"/>
              <a:ext cx="415039" cy="361301"/>
            </a:xfrm>
            <a:custGeom>
              <a:avLst/>
              <a:gdLst/>
              <a:ahLst/>
              <a:cxnLst/>
              <a:rect l="l" t="t" r="r" b="b"/>
              <a:pathLst>
                <a:path w="415039" h="361301">
                  <a:moveTo>
                    <a:pt x="374408" y="196214"/>
                  </a:moveTo>
                  <a:lnTo>
                    <a:pt x="207721" y="361301"/>
                  </a:lnTo>
                  <a:lnTo>
                    <a:pt x="41033" y="196214"/>
                  </a:lnTo>
                  <a:cubicBezTo>
                    <a:pt x="11058" y="167046"/>
                    <a:pt x="0" y="123517"/>
                    <a:pt x="12418" y="83579"/>
                  </a:cubicBezTo>
                  <a:cubicBezTo>
                    <a:pt x="24836" y="43640"/>
                    <a:pt x="58628" y="14057"/>
                    <a:pt x="99858" y="7029"/>
                  </a:cubicBezTo>
                  <a:cubicBezTo>
                    <a:pt x="141087" y="0"/>
                    <a:pt x="182771" y="16717"/>
                    <a:pt x="207721" y="50285"/>
                  </a:cubicBezTo>
                  <a:cubicBezTo>
                    <a:pt x="232774" y="16965"/>
                    <a:pt x="274369" y="470"/>
                    <a:pt x="315450" y="7565"/>
                  </a:cubicBezTo>
                  <a:cubicBezTo>
                    <a:pt x="356530" y="14659"/>
                    <a:pt x="390184" y="44149"/>
                    <a:pt x="402611" y="83941"/>
                  </a:cubicBezTo>
                  <a:cubicBezTo>
                    <a:pt x="415039" y="123734"/>
                    <a:pt x="404149" y="167135"/>
                    <a:pt x="374408" y="196347"/>
                  </a:cubicBezTo>
                </a:path>
              </a:pathLst>
            </a:custGeom>
            <a:noFill/>
            <a:ln w="4445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3608" y="37750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心肺健康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442277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让运动成为日常的一部分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4679950" y="2924175"/>
              <a:ext cx="311150" cy="400050"/>
              <a:chOff x="4679950" y="2924175"/>
              <a:chExt cx="311150" cy="4000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835680" y="29241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679950" y="3224212"/>
                <a:ext cx="127794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33337">
                    <a:moveTo>
                      <a:pt x="0" y="11112"/>
                    </a:moveTo>
                    <a:lnTo>
                      <a:pt x="111125" y="33337"/>
                    </a:lnTo>
                    <a:lnTo>
                      <a:pt x="127794" y="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835525" y="3035300"/>
                <a:ext cx="8890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88925">
                    <a:moveTo>
                      <a:pt x="88900" y="288925"/>
                    </a:moveTo>
                    <a:lnTo>
                      <a:pt x="88900" y="200025"/>
                    </a:lnTo>
                    <a:lnTo>
                      <a:pt x="0" y="133350"/>
                    </a:lnTo>
                    <a:lnTo>
                      <a:pt x="22225" y="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746625" y="3035300"/>
                <a:ext cx="2444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88900">
                    <a:moveTo>
                      <a:pt x="0" y="88900"/>
                    </a:moveTo>
                    <a:lnTo>
                      <a:pt x="0" y="22225"/>
                    </a:lnTo>
                    <a:lnTo>
                      <a:pt x="111125" y="0"/>
                    </a:lnTo>
                    <a:lnTo>
                      <a:pt x="177800" y="66675"/>
                    </a:lnTo>
                    <a:lnTo>
                      <a:pt x="244475" y="8890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578858" y="37750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提升情绪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81906" y="44227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给一天增添积极感受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265870" y="2923997"/>
              <a:ext cx="396136" cy="419236"/>
            </a:xfrm>
            <a:custGeom>
              <a:avLst/>
              <a:gdLst/>
              <a:ahLst/>
              <a:cxnLst/>
              <a:rect l="l" t="t" r="r" b="b"/>
              <a:pathLst>
                <a:path w="396136" h="419236">
                  <a:moveTo>
                    <a:pt x="211380" y="178"/>
                  </a:moveTo>
                  <a:cubicBezTo>
                    <a:pt x="214313" y="178"/>
                    <a:pt x="217225" y="178"/>
                    <a:pt x="220114" y="178"/>
                  </a:cubicBezTo>
                  <a:cubicBezTo>
                    <a:pt x="161199" y="54922"/>
                    <a:pt x="149773" y="143926"/>
                    <a:pt x="192949" y="211776"/>
                  </a:cubicBezTo>
                  <a:cubicBezTo>
                    <a:pt x="236126" y="279626"/>
                    <a:pt x="321592" y="306973"/>
                    <a:pt x="396136" y="276790"/>
                  </a:cubicBezTo>
                  <a:cubicBezTo>
                    <a:pt x="357627" y="369449"/>
                    <a:pt x="256426" y="419236"/>
                    <a:pt x="159521" y="393197"/>
                  </a:cubicBezTo>
                  <a:cubicBezTo>
                    <a:pt x="62616" y="367158"/>
                    <a:pt x="0" y="273351"/>
                    <a:pt x="13121" y="173870"/>
                  </a:cubicBezTo>
                  <a:cubicBezTo>
                    <a:pt x="26241" y="74389"/>
                    <a:pt x="111037" y="24"/>
                    <a:pt x="211380" y="0"/>
                  </a:cubicBezTo>
                  <a:lnTo>
                    <a:pt x="211380" y="178"/>
                  </a:lnTo>
                </a:path>
              </a:pathLst>
            </a:custGeom>
            <a:noFill/>
            <a:ln w="444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8358" y="37750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缓解压力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01406" y="44227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在迈步中调整状态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3504" y="6115050"/>
            <a:ext cx="10832592" cy="234696"/>
            <a:chOff x="603504" y="6115050"/>
            <a:chExt cx="108325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115050"/>
              <a:ext cx="2774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来源：NHS · Better Health / nhs.uk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2732" y="61150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03250"/>
            <a:ext cx="3429000" cy="1151763"/>
            <a:chOff x="591312" y="603250"/>
            <a:chExt cx="3429000" cy="1151763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032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跑前准备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1050925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先把出门准备好</a:t>
              </a:r>
            </a:p>
          </p:txBody>
        </p:sp>
      </p:grpSp>
      <p:grpSp>
        <p:nvGrpSpPr>
          <p:cNvPr id="13" name="equipment"/>
          <p:cNvGrpSpPr/>
          <p:nvPr/>
        </p:nvGrpSpPr>
        <p:grpSpPr>
          <a:xfrm>
            <a:off x="609600" y="2286000"/>
            <a:ext cx="4857750" cy="3238500"/>
            <a:chOff x="609600" y="2286000"/>
            <a:chExt cx="4857750" cy="3238500"/>
          </a:xfrm>
        </p:grpSpPr>
        <p:sp>
          <p:nvSpPr>
            <p:cNvPr id="5" name="Rectangle 5"/>
            <p:cNvSpPr/>
            <p:nvPr/>
          </p:nvSpPr>
          <p:spPr>
            <a:xfrm>
              <a:off x="609600" y="2286000"/>
              <a:ext cx="4857750" cy="3238500"/>
            </a:xfrm>
            <a:prstGeom prst="roundRect">
              <a:avLst>
                <a:gd name="adj" fmla="val 470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90600" y="2781300"/>
              <a:ext cx="457201" cy="304800"/>
              <a:chOff x="990600" y="2781300"/>
              <a:chExt cx="457201" cy="304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90600" y="2781300"/>
                <a:ext cx="457201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304800">
                    <a:moveTo>
                      <a:pt x="25400" y="0"/>
                    </a:moveTo>
                    <a:lnTo>
                      <a:pt x="163221" y="0"/>
                    </a:lnTo>
                    <a:cubicBezTo>
                      <a:pt x="172247" y="6"/>
                      <a:pt x="180592" y="4802"/>
                      <a:pt x="185141" y="12598"/>
                    </a:cubicBezTo>
                    <a:lnTo>
                      <a:pt x="212166" y="58903"/>
                    </a:lnTo>
                    <a:cubicBezTo>
                      <a:pt x="222660" y="76897"/>
                      <a:pt x="240062" y="89811"/>
                      <a:pt x="260325" y="94641"/>
                    </a:cubicBezTo>
                    <a:lnTo>
                      <a:pt x="379121" y="122936"/>
                    </a:lnTo>
                    <a:cubicBezTo>
                      <a:pt x="424882" y="133826"/>
                      <a:pt x="457185" y="174703"/>
                      <a:pt x="457201" y="221742"/>
                    </a:cubicBezTo>
                    <a:lnTo>
                      <a:pt x="457201" y="279400"/>
                    </a:lnTo>
                    <a:cubicBezTo>
                      <a:pt x="457201" y="293428"/>
                      <a:pt x="445829" y="304800"/>
                      <a:pt x="431801" y="304800"/>
                    </a:cubicBezTo>
                    <a:lnTo>
                      <a:pt x="25400" y="304800"/>
                    </a:lnTo>
                    <a:cubicBezTo>
                      <a:pt x="11372" y="304800"/>
                      <a:pt x="0" y="293428"/>
                      <a:pt x="0" y="2794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</a:path>
                </a:pathLst>
              </a:custGeom>
              <a:noFill/>
              <a:ln w="5080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270000" y="2908300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50800">
                    <a:moveTo>
                      <a:pt x="0" y="50800"/>
                    </a:moveTo>
                    <a:lnTo>
                      <a:pt x="25400" y="0"/>
                    </a:lnTo>
                  </a:path>
                </a:pathLst>
              </a:custGeom>
              <a:noFill/>
              <a:ln w="508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90600" y="29591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127000" y="127000"/>
                    </a:moveTo>
                    <a:lnTo>
                      <a:pt x="127000" y="101600"/>
                    </a:lnTo>
                    <a:cubicBezTo>
                      <a:pt x="127000" y="45488"/>
                      <a:pt x="81512" y="0"/>
                      <a:pt x="2540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5080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8400" y="28575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0"/>
                    </a:lnTo>
                  </a:path>
                </a:pathLst>
              </a:custGeom>
              <a:noFill/>
              <a:ln w="50800">
                <a:solidFill>
                  <a:schemeClr val="accent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02208" y="34988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穿得舒适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5256" y="4083050"/>
              <a:ext cx="20756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支撑双脚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的跑鞋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搭配方便活动的衣物</a:t>
              </a:r>
            </a:p>
          </p:txBody>
        </p:sp>
      </p:grpSp>
      <p:grpSp>
        <p:nvGrpSpPr>
          <p:cNvPr id="19" name="route"/>
          <p:cNvGrpSpPr/>
          <p:nvPr/>
        </p:nvGrpSpPr>
        <p:grpSpPr>
          <a:xfrm>
            <a:off x="6160008" y="2685269"/>
            <a:ext cx="2993136" cy="2473725"/>
            <a:chOff x="6160008" y="2685269"/>
            <a:chExt cx="2993136" cy="2473725"/>
          </a:xfrm>
        </p:grpSpPr>
        <p:grpSp>
          <p:nvGrpSpPr>
            <p:cNvPr id="16" name="Group 16"/>
            <p:cNvGrpSpPr/>
            <p:nvPr/>
          </p:nvGrpSpPr>
          <p:grpSpPr>
            <a:xfrm>
              <a:off x="6253961" y="2685269"/>
              <a:ext cx="446079" cy="494306"/>
              <a:chOff x="6253961" y="2685269"/>
              <a:chExt cx="446079" cy="49430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400800" y="28321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5080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253961" y="2685269"/>
                <a:ext cx="446079" cy="494306"/>
              </a:xfrm>
              <a:custGeom>
                <a:avLst/>
                <a:gdLst/>
                <a:ahLst/>
                <a:cxnLst/>
                <a:rect l="l" t="t" r="r" b="b"/>
                <a:pathLst>
                  <a:path w="446079" h="494306">
                    <a:moveTo>
                      <a:pt x="366728" y="366719"/>
                    </a:moveTo>
                    <a:lnTo>
                      <a:pt x="258955" y="474491"/>
                    </a:lnTo>
                    <a:cubicBezTo>
                      <a:pt x="239121" y="494306"/>
                      <a:pt x="206984" y="494306"/>
                      <a:pt x="187149" y="474491"/>
                    </a:cubicBezTo>
                    <a:lnTo>
                      <a:pt x="79352" y="366719"/>
                    </a:lnTo>
                    <a:cubicBezTo>
                      <a:pt x="0" y="287363"/>
                      <a:pt x="2" y="158706"/>
                      <a:pt x="79357" y="79353"/>
                    </a:cubicBezTo>
                    <a:cubicBezTo>
                      <a:pt x="158711" y="0"/>
                      <a:pt x="287368" y="0"/>
                      <a:pt x="366723" y="79353"/>
                    </a:cubicBezTo>
                    <a:cubicBezTo>
                      <a:pt x="446077" y="158706"/>
                      <a:pt x="446079" y="287363"/>
                      <a:pt x="366728" y="366719"/>
                    </a:cubicBezTo>
                  </a:path>
                </a:pathLst>
              </a:custGeom>
              <a:noFill/>
              <a:ln w="50800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160008" y="34988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路线先想好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63056" y="4083050"/>
              <a:ext cx="299008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提前规划路线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低光照时选择照明良好的路段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并穿反光衣物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115050"/>
            <a:ext cx="10832592" cy="234696"/>
            <a:chOff x="603504" y="6115050"/>
            <a:chExt cx="108325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115050"/>
              <a:ext cx="2774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来源：NHS · Better Health / nhs.uk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82732" y="61150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03250"/>
            <a:ext cx="5367528" cy="1151763"/>
            <a:chOff x="591312" y="603250"/>
            <a:chExt cx="5367528" cy="1151763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03250"/>
              <a:ext cx="1479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第一次跑步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1050925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第一次：从走跑交替开始</a:t>
              </a:r>
            </a:p>
          </p:txBody>
        </p:sp>
      </p:grpSp>
      <p:grpSp>
        <p:nvGrpSpPr>
          <p:cNvPr id="13" name="walk-run"/>
          <p:cNvGrpSpPr/>
          <p:nvPr/>
        </p:nvGrpSpPr>
        <p:grpSpPr>
          <a:xfrm>
            <a:off x="1857375" y="2295525"/>
            <a:ext cx="8477250" cy="1622044"/>
            <a:chOff x="1857375" y="2295525"/>
            <a:chExt cx="8477250" cy="1622044"/>
          </a:xfrm>
        </p:grpSpPr>
        <p:sp>
          <p:nvSpPr>
            <p:cNvPr id="5" name="Line 5"/>
            <p:cNvSpPr/>
            <p:nvPr/>
          </p:nvSpPr>
          <p:spPr>
            <a:xfrm>
              <a:off x="2286000" y="27241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857375" y="2295525"/>
              <a:ext cx="857250" cy="8572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667375" y="2295525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477375" y="2295525"/>
              <a:ext cx="857250" cy="8572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12264" y="2536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22264" y="2536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2264" y="2536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90644" y="356552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按自己的节奏，逐步增加跑步量</a:t>
              </a:r>
            </a:p>
          </p:txBody>
        </p:sp>
      </p:grpSp>
      <p:grpSp>
        <p:nvGrpSpPr>
          <p:cNvPr id="17" name="talk-test"/>
          <p:cNvGrpSpPr/>
          <p:nvPr/>
        </p:nvGrpSpPr>
        <p:grpSpPr>
          <a:xfrm>
            <a:off x="609600" y="4438650"/>
            <a:ext cx="10972800" cy="1333500"/>
            <a:chOff x="609600" y="4438650"/>
            <a:chExt cx="109728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09600" y="4438650"/>
              <a:ext cx="10972800" cy="1333500"/>
            </a:xfrm>
            <a:prstGeom prst="roundRect">
              <a:avLst>
                <a:gd name="adj" fmla="val 1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5256" y="4632325"/>
              <a:ext cx="2479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用“说话测试”感受强度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5256" y="5026025"/>
              <a:ext cx="4590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中等强度：通常能说话、不能唱歌。</a:t>
              </a:r>
              <a:br>
                <a:rPr lang="zh-CN" sz="18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高强度：往往说几句话，就需要停下来换气。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3504" y="6115050"/>
            <a:ext cx="10832592" cy="234696"/>
            <a:chOff x="603504" y="6115050"/>
            <a:chExt cx="108325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115050"/>
              <a:ext cx="4402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来源：NHS / nhs.uk；CDC / cdc.gov · 步骤示意为本稿整理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82732" y="61150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879475"/>
            <a:ext cx="2779776" cy="1866138"/>
            <a:chOff x="591312" y="879475"/>
            <a:chExt cx="2779776" cy="186613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879475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持续行动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1412875"/>
              <a:ext cx="2779776" cy="1332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950"/>
                </a:lnSpc>
              </a:pPr>
              <a:r>
                <a:rPr lang="zh-CN" sz="3600" b="1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让下一次，</a:t>
              </a:r>
              <a:br>
                <a:rPr lang="zh-CN" sz="3600" b="1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600" b="1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也愿意出门。</a:t>
              </a:r>
            </a:p>
          </p:txBody>
        </p:sp>
      </p:grpSp>
      <p:grpSp>
        <p:nvGrpSpPr>
          <p:cNvPr id="8" name="recovery"/>
          <p:cNvGrpSpPr/>
          <p:nvPr/>
        </p:nvGrpSpPr>
        <p:grpSpPr>
          <a:xfrm>
            <a:off x="597408" y="3505048"/>
            <a:ext cx="3255264" cy="1707921"/>
            <a:chOff x="597408" y="3505048"/>
            <a:chExt cx="3255264" cy="1707921"/>
          </a:xfrm>
        </p:grpSpPr>
        <p:sp>
          <p:nvSpPr>
            <p:cNvPr id="5" name="Freeform 5"/>
            <p:cNvSpPr/>
            <p:nvPr/>
          </p:nvSpPr>
          <p:spPr>
            <a:xfrm>
              <a:off x="657017" y="3505048"/>
              <a:ext cx="339546" cy="359346"/>
            </a:xfrm>
            <a:custGeom>
              <a:avLst/>
              <a:gdLst/>
              <a:ahLst/>
              <a:cxnLst/>
              <a:rect l="l" t="t" r="r" b="b"/>
              <a:pathLst>
                <a:path w="339546" h="359346">
                  <a:moveTo>
                    <a:pt x="181183" y="152"/>
                  </a:moveTo>
                  <a:cubicBezTo>
                    <a:pt x="183697" y="152"/>
                    <a:pt x="186193" y="152"/>
                    <a:pt x="188670" y="152"/>
                  </a:cubicBezTo>
                  <a:cubicBezTo>
                    <a:pt x="138171" y="47076"/>
                    <a:pt x="128377" y="123365"/>
                    <a:pt x="165385" y="181522"/>
                  </a:cubicBezTo>
                  <a:cubicBezTo>
                    <a:pt x="202394" y="239680"/>
                    <a:pt x="275650" y="263120"/>
                    <a:pt x="339546" y="237249"/>
                  </a:cubicBezTo>
                  <a:cubicBezTo>
                    <a:pt x="306538" y="316671"/>
                    <a:pt x="219794" y="359346"/>
                    <a:pt x="136732" y="337026"/>
                  </a:cubicBezTo>
                  <a:cubicBezTo>
                    <a:pt x="53671" y="314707"/>
                    <a:pt x="0" y="234301"/>
                    <a:pt x="11246" y="149031"/>
                  </a:cubicBezTo>
                  <a:cubicBezTo>
                    <a:pt x="22493" y="63762"/>
                    <a:pt x="95175" y="21"/>
                    <a:pt x="181183" y="0"/>
                  </a:cubicBezTo>
                  <a:lnTo>
                    <a:pt x="181183" y="152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7408" y="417512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休息也是计划的一部分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486092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两次跑步之间，安排休息日。</a:t>
              </a:r>
            </a:p>
          </p:txBody>
        </p:sp>
      </p:grpSp>
      <p:grpSp>
        <p:nvGrpSpPr>
          <p:cNvPr id="12" name="action"/>
          <p:cNvGrpSpPr/>
          <p:nvPr/>
        </p:nvGrpSpPr>
        <p:grpSpPr>
          <a:xfrm>
            <a:off x="7048500" y="1619250"/>
            <a:ext cx="4191000" cy="3714750"/>
            <a:chOff x="7048500" y="1619250"/>
            <a:chExt cx="4191000" cy="3714750"/>
          </a:xfrm>
        </p:grpSpPr>
        <p:sp>
          <p:nvSpPr>
            <p:cNvPr id="9" name="Freeform 9"/>
            <p:cNvSpPr/>
            <p:nvPr/>
          </p:nvSpPr>
          <p:spPr>
            <a:xfrm>
              <a:off x="7048500" y="1619250"/>
              <a:ext cx="4191000" cy="3714750"/>
            </a:xfrm>
            <a:prstGeom prst="snip1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1880" y="2222500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 / 行动提示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17308" y="2689225"/>
              <a:ext cx="15483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选一条路线</a:t>
              </a:r>
              <a:b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定一个时间</a:t>
              </a:r>
              <a:b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记一次感受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603504" y="6115050"/>
            <a:ext cx="10832592" cy="234696"/>
            <a:chOff x="603504" y="6115050"/>
            <a:chExt cx="108325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603504" y="6115050"/>
              <a:ext cx="3469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恢复建议：NHS / nhs.uk · 行动提示为本稿整理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82732" y="61150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5F7F2"/>
                  </a:solidFill>
                  <a:latin typeface="+mn-lt"/>
                  <a:ea typeface="+mn-ea"/>
                  <a:cs typeface="+mn-cs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unning_test">
  <a:themeElements>
    <a:clrScheme name="running_test">
      <a:dk1>
        <a:srgbClr val="102B36"/>
      </a:dk1>
      <a:lt1>
        <a:srgbClr val="F5F7F2"/>
      </a:lt1>
      <a:dk2>
        <a:srgbClr val="1F497D"/>
      </a:dk2>
      <a:lt2>
        <a:srgbClr val="E6ECDF"/>
      </a:lt2>
      <a:accent1>
        <a:srgbClr val="102B36"/>
      </a:accent1>
      <a:accent2>
        <a:srgbClr val="C5F36B"/>
      </a:accent2>
      <a:accent3>
        <a:srgbClr val="487968"/>
      </a:accent3>
      <a:accent4>
        <a:srgbClr val="102B36"/>
      </a:accent4>
      <a:accent5>
        <a:srgbClr val="5C7076"/>
      </a:accent5>
      <a:accent6>
        <a:srgbClr val="CAD5CF"/>
      </a:accent6>
      <a:hlink>
        <a:srgbClr val="C5F36B"/>
      </a:hlink>
      <a:folHlink>
        <a:srgbClr val="487968"/>
      </a:folHlink>
    </a:clrScheme>
    <a:fontScheme name="running_tes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nning_te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unning_test">
  <a:themeElements>
    <a:clrScheme name="running_test">
      <a:dk1>
        <a:srgbClr val="102B36"/>
      </a:dk1>
      <a:lt1>
        <a:srgbClr val="F5F7F2"/>
      </a:lt1>
      <a:dk2>
        <a:srgbClr val="1F497D"/>
      </a:dk2>
      <a:lt2>
        <a:srgbClr val="E6ECDF"/>
      </a:lt2>
      <a:accent1>
        <a:srgbClr val="102B36"/>
      </a:accent1>
      <a:accent2>
        <a:srgbClr val="C5F36B"/>
      </a:accent2>
      <a:accent3>
        <a:srgbClr val="487968"/>
      </a:accent3>
      <a:accent4>
        <a:srgbClr val="102B36"/>
      </a:accent4>
      <a:accent5>
        <a:srgbClr val="5C7076"/>
      </a:accent5>
      <a:accent6>
        <a:srgbClr val="CAD5CF"/>
      </a:accent6>
      <a:hlink>
        <a:srgbClr val="C5F36B"/>
      </a:hlink>
      <a:folHlink>
        <a:srgbClr val="487968"/>
      </a:folHlink>
    </a:clrScheme>
    <a:fontScheme name="running_tes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nning_te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2026-10-07T06:54:19Z</dcterms:created>
  <dcterms:modified xsi:type="dcterms:W3CDTF">2026-10-07T06:54:19Z</dcterms:modified>
  <cp:category/>
  <cp:contentStatus/>
</cp:coreProperties>
</file>